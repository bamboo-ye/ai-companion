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84ff41b6584335" /><Relationship Type="http://schemas.openxmlformats.org/officeDocument/2006/relationships/extended-properties" Target="/docProps/app.xml" Id="R2886fd67129145e3" /><Relationship Type="http://schemas.openxmlformats.org/officeDocument/2006/relationships/officeDocument" Target="/ppt/presentation.xml" Id="Re9bebe4f4bdd47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2216d5afb46ea"/>
  </p:sldMasterIdLst>
  <p:notesMasterIdLst>
    <p:notesMasterId xmlns:r="http://schemas.openxmlformats.org/officeDocument/2006/relationships" r:id="R2040aa1abf5d47fe"/>
  </p:notesMasterIdLst>
  <p:sldIdLst>
    <p:sldId xmlns:r="http://schemas.openxmlformats.org/officeDocument/2006/relationships" id="256" r:id="R51124ce9100345d4"/>
    <p:sldId xmlns:r="http://schemas.openxmlformats.org/officeDocument/2006/relationships" id="257" r:id="R8049145cc2da49ef"/>
    <p:sldId xmlns:r="http://schemas.openxmlformats.org/officeDocument/2006/relationships" id="258" r:id="Rf17dc569a6b4484c"/>
    <p:sldId xmlns:r="http://schemas.openxmlformats.org/officeDocument/2006/relationships" id="259" r:id="Re10f627a699749bd"/>
    <p:sldId xmlns:r="http://schemas.openxmlformats.org/officeDocument/2006/relationships" id="260" r:id="R8a6547e20fa74767"/>
    <p:sldId xmlns:r="http://schemas.openxmlformats.org/officeDocument/2006/relationships" id="261" r:id="Rab3cc8b7f2ee4013"/>
    <p:sldId xmlns:r="http://schemas.openxmlformats.org/officeDocument/2006/relationships" id="262" r:id="R435d97cadc444eb7"/>
    <p:sldId xmlns:r="http://schemas.openxmlformats.org/officeDocument/2006/relationships" id="263" r:id="R174a175d628f49d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88f548977a4cec" /><Relationship Type="http://schemas.openxmlformats.org/officeDocument/2006/relationships/slideMaster" Target="/ppt/slideMasters/slideMaster1.xml" Id="Rf502216d5afb46ea" /><Relationship Type="http://schemas.openxmlformats.org/officeDocument/2006/relationships/notesMaster" Target="/ppt/notesMasters/notesMaster1.xml" Id="R2040aa1abf5d47fe" /><Relationship Type="http://schemas.openxmlformats.org/officeDocument/2006/relationships/presProps" Target="/ppt/presProps.xml" Id="R67dd75b2224145ce" /><Relationship Type="http://schemas.openxmlformats.org/officeDocument/2006/relationships/viewProps" Target="/ppt/viewProps.xml" Id="R8f2ad77eb7934431" /><Relationship Type="http://schemas.openxmlformats.org/officeDocument/2006/relationships/tableStyles" Target="/ppt/tableStyles.xml" Id="Rd6032b0e18c848bf" /><Relationship Type="http://schemas.openxmlformats.org/officeDocument/2006/relationships/slide" Target="/ppt/slides/slide1.xml" Id="R51124ce9100345d4" /><Relationship Type="http://schemas.openxmlformats.org/officeDocument/2006/relationships/slide" Target="/ppt/slides/slide2.xml" Id="R8049145cc2da49ef" /><Relationship Type="http://schemas.openxmlformats.org/officeDocument/2006/relationships/slide" Target="/ppt/slides/slide3.xml" Id="Rf17dc569a6b4484c" /><Relationship Type="http://schemas.openxmlformats.org/officeDocument/2006/relationships/slide" Target="/ppt/slides/slide4.xml" Id="Re10f627a699749bd" /><Relationship Type="http://schemas.openxmlformats.org/officeDocument/2006/relationships/slide" Target="/ppt/slides/slide5.xml" Id="R8a6547e20fa74767" /><Relationship Type="http://schemas.openxmlformats.org/officeDocument/2006/relationships/slide" Target="/ppt/slides/slide6.xml" Id="Rab3cc8b7f2ee4013" /><Relationship Type="http://schemas.openxmlformats.org/officeDocument/2006/relationships/slide" Target="/ppt/slides/slide7.xml" Id="R435d97cadc444eb7" /><Relationship Type="http://schemas.openxmlformats.org/officeDocument/2006/relationships/slide" Target="/ppt/slides/slide8.xml" Id="R174a175d628f49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970b1c1c8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dc45d910ab49e9" /><Relationship Type="http://schemas.openxmlformats.org/officeDocument/2006/relationships/notesMaster" Target="/ppt/notesMasters/notesMaster1.xml" Id="R6d5dd458f49e49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c45a5514034fff" /><Relationship Type="http://schemas.openxmlformats.org/officeDocument/2006/relationships/notesMaster" Target="/ppt/notesMasters/notesMaster1.xml" Id="Rb58e8551a65c42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83938164b347ff" /><Relationship Type="http://schemas.openxmlformats.org/officeDocument/2006/relationships/notesMaster" Target="/ppt/notesMasters/notesMaster1.xml" Id="R48e3f22f9ec84e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a0c8b7d094180" /><Relationship Type="http://schemas.openxmlformats.org/officeDocument/2006/relationships/notesMaster" Target="/ppt/notesMasters/notesMaster1.xml" Id="Rbf6444d394654c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7b509265f441b4" /><Relationship Type="http://schemas.openxmlformats.org/officeDocument/2006/relationships/notesMaster" Target="/ppt/notesMasters/notesMaster1.xml" Id="R95a7f70a43014c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180c9770f14b30" /><Relationship Type="http://schemas.openxmlformats.org/officeDocument/2006/relationships/notesMaster" Target="/ppt/notesMasters/notesMaster1.xml" Id="R523cd46d3da14b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f75a92ac2249b4" /><Relationship Type="http://schemas.openxmlformats.org/officeDocument/2006/relationships/notesMaster" Target="/ppt/notesMasters/notesMaster1.xml" Id="R6a7d370f81df49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c3cc72e1e94ddc" /><Relationship Type="http://schemas.openxmlformats.org/officeDocument/2006/relationships/notesMaster" Target="/ppt/notesMasters/notesMaster1.xml" Id="R3e1439772fa64d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ai-companion-system-screens-v3.pdf · 第 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ai-companion-system-screens-v3.pdf · 第 2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ai-companion-system-screens-v3.pdf · 第 3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7ae573c1047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01a8ffa6a4d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5dc9c245941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96111342f47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5688d1ff54b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c0e3723b547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4f5c497fe49e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f6a0496e440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04fe208de4b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2d98c6ce14d6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5ca47eb9d480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21584F-D1C2-40CF-A57C-E26C9979C7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038B71-4AE0-43F8-BFAF-69D54D2A7B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04A4F2-2D10-4988-AED1-3F99A2A8B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9671A0-2FED-4B4B-B8FF-0FB3D4B3B6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A23798-6F5B-4215-BFE6-D38E40E437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677A69-9891-4369-BCFE-5A08444007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A8563D-31A2-4EC4-B053-894232ACBC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B8AE13-BB50-4D7B-B85A-E48694A1C7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98B20E-6976-4F21-990F-5C6AB8722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088922-1DF4-4FB8-9966-32BA0EFDAD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BE7A70-86A3-4868-AED4-80821CEB5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393B4B-D8AD-469A-AAE8-9F8291D04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6FB5DB-8CF1-4FE2-BB04-89278B94CE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7D2329-62B8-4662-84DE-19F90F6201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851A15-6E68-4CB3-AED8-1F483E1FD3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3A66A4-44AF-402C-B7F2-8AC7B8D02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C10743-B726-4D68-AAB5-5FEF7F081A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7D35B8D-89D0-4A8F-B578-93EE6AC958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BCE49E4-2CD8-4C00-8925-CA2D024FA1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D92313D-53C1-4BF1-91C2-D28AB388A6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DCD800-E197-4F39-980A-E4241FE09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75002D-04A8-4963-8662-15F7D331D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585B0F-A605-4669-8E17-E519C29DE5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D40E22-73EC-4869-9CE4-6D7F35848C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2637A03-DC26-4DD2-98C1-A7D01D30BA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51CECC6-1D29-4143-93EF-6DF71EE89D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12F028D-0675-499D-A994-AAE3307C8E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D0AEBB5-6321-4B6A-9C17-538EAD7FD9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EFED05B-C099-41E8-80B3-482FDC58CA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C667F5-D0D6-43A1-AE84-014648965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19468C9-76B5-4645-9BBD-8A9DC8CC15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49787E-3BD5-4EB0-AD6E-64400B2C61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5A2A9DC-03AA-457D-9F98-179DEEF141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22CAF56-7C7B-418B-8787-6886CD9514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A821C9E-E8B1-4B35-A10A-BB6D13B34F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99700B-76C4-4D4C-A0C0-509A6B019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0F411A-6CF3-4FF5-B42D-5C30B45B1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1A0B3D-DDD7-4AFC-91AF-934900B40F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065D68E-2BA4-4E6D-8755-BDF73D81C0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D8DB41-85D7-4C29-BA63-12855A942B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290B63-F5A3-4D09-BE93-3B349A6E1D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480594-11FA-4A33-A41D-0E30540391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54AA5A-5E6D-439D-B1BA-21D6D3549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FE5FF39-A6C0-48C6-8069-9A2969D856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928EA48-688B-4215-8E71-367EDBD8A9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2E06DE-96B2-42DE-B719-264ABFDE59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A1A261-331D-4C51-8D7E-4314C6376E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63C3E5-F7E7-4FF7-8876-4B6218E4D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F9C0E2-6CF2-4E22-A7D6-B396D1EDD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A5E073-565C-4FBA-82E1-A6A7178AF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3BBACE-A59F-4C08-B069-89CA70D987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188582-C905-452A-A616-D13B4F2073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0E21E7-5FE4-45F2-827E-3C34821CF2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0775D2F-7048-4101-9286-7517F73F95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BE742F1-CA07-469B-A730-CF7919B7E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E38E03-2346-44A2-AE38-224407004E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80E7A6-1E0C-40DD-92C8-8F79EB560A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B8F278-5400-4E9F-B523-2729ECA2CE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0061d4b64b4f00" /><Relationship Type="http://schemas.openxmlformats.org/officeDocument/2006/relationships/slideLayout" Target="/ppt/slideLayouts/slideLayout1.xml" Id="Rc1badf1264584361" /><Relationship Type="http://schemas.openxmlformats.org/officeDocument/2006/relationships/slideLayout" Target="/ppt/slideLayouts/slideLayout2.xml" Id="Rae40bf9b4f1d4a73" /><Relationship Type="http://schemas.openxmlformats.org/officeDocument/2006/relationships/slideLayout" Target="/ppt/slideLayouts/slideLayout3.xml" Id="R7e403a7394a049b6" /><Relationship Type="http://schemas.openxmlformats.org/officeDocument/2006/relationships/slideLayout" Target="/ppt/slideLayouts/slideLayout4.xml" Id="Rd25a21b2950242e9" /><Relationship Type="http://schemas.openxmlformats.org/officeDocument/2006/relationships/slideLayout" Target="/ppt/slideLayouts/slideLayout5.xml" Id="R837a2f3014ba49b9" /><Relationship Type="http://schemas.openxmlformats.org/officeDocument/2006/relationships/slideLayout" Target="/ppt/slideLayouts/slideLayout6.xml" Id="R476c5c5eb0a14835" /><Relationship Type="http://schemas.openxmlformats.org/officeDocument/2006/relationships/slideLayout" Target="/ppt/slideLayouts/slideLayout7.xml" Id="Rfa31bef98cd94e81" /><Relationship Type="http://schemas.openxmlformats.org/officeDocument/2006/relationships/slideLayout" Target="/ppt/slideLayouts/slideLayout8.xml" Id="R87668762ec1b4465" /><Relationship Type="http://schemas.openxmlformats.org/officeDocument/2006/relationships/slideLayout" Target="/ppt/slideLayouts/slideLayout9.xml" Id="R23d8feb941394ed8" /><Relationship Type="http://schemas.openxmlformats.org/officeDocument/2006/relationships/slideLayout" Target="/ppt/slideLayouts/slideLayout10.xml" Id="R3bc39a39e4ae4af4" /><Relationship Type="http://schemas.openxmlformats.org/officeDocument/2006/relationships/slideLayout" Target="/ppt/slideLayouts/slideLayout11.xml" Id="R69bb3d92685d4b2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062A52B-6AD0-4138-BA43-6011733CF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D9A53F-77BA-4D86-AE88-4FFC1B2924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5FD247-9BD9-4669-8C30-5F0FF087D57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2A5A5D-A07A-4D8A-ABF1-3F57822C6B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513B3B-2704-49C9-A71B-6CA0071B68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badf1264584361"/>
    <p:sldLayoutId xmlns:r="http://schemas.openxmlformats.org/officeDocument/2006/relationships" id="2147483650" r:id="Rae40bf9b4f1d4a73"/>
    <p:sldLayoutId xmlns:r="http://schemas.openxmlformats.org/officeDocument/2006/relationships" id="2147483651" r:id="R7e403a7394a049b6"/>
    <p:sldLayoutId xmlns:r="http://schemas.openxmlformats.org/officeDocument/2006/relationships" id="2147483652" r:id="Rd25a21b2950242e9"/>
    <p:sldLayoutId xmlns:r="http://schemas.openxmlformats.org/officeDocument/2006/relationships" id="2147483653" r:id="R837a2f3014ba49b9"/>
    <p:sldLayoutId xmlns:r="http://schemas.openxmlformats.org/officeDocument/2006/relationships" id="2147483654" r:id="R476c5c5eb0a14835"/>
    <p:sldLayoutId xmlns:r="http://schemas.openxmlformats.org/officeDocument/2006/relationships" id="2147483655" r:id="Rfa31bef98cd94e81"/>
    <p:sldLayoutId xmlns:r="http://schemas.openxmlformats.org/officeDocument/2006/relationships" id="2147483656" r:id="R87668762ec1b4465"/>
    <p:sldLayoutId xmlns:r="http://schemas.openxmlformats.org/officeDocument/2006/relationships" id="2147483657" r:id="R23d8feb941394ed8"/>
    <p:sldLayoutId xmlns:r="http://schemas.openxmlformats.org/officeDocument/2006/relationships" id="2147483658" r:id="R3bc39a39e4ae4af4"/>
    <p:sldLayoutId xmlns:r="http://schemas.openxmlformats.org/officeDocument/2006/relationships" id="2147483659" r:id="R69bb3d92685d4b2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78e9d03654714" /><Relationship Type="http://schemas.openxmlformats.org/officeDocument/2006/relationships/notesSlide" Target="/ppt/notesSlides/notesSlide1.xml" Id="Rb9903dbdc38548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d93ec83c6a4c44" /><Relationship Type="http://schemas.openxmlformats.org/officeDocument/2006/relationships/notesSlide" Target="/ppt/notesSlides/notesSlide2.xml" Id="R461365e2d84c4a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f528799a1346dd" /><Relationship Type="http://schemas.openxmlformats.org/officeDocument/2006/relationships/image" Target="/ppt/media/image.jpeg" Id="R12ed3db6f1bb4fc2" /><Relationship Type="http://schemas.openxmlformats.org/officeDocument/2006/relationships/notesSlide" Target="/ppt/notesSlides/notesSlide3.xml" Id="R2977135c8dfb40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f133b4c5b2455b" /><Relationship Type="http://schemas.openxmlformats.org/officeDocument/2006/relationships/image" Target="/ppt/media/image2.jpeg" Id="Rbcb30de89faf494a" /><Relationship Type="http://schemas.openxmlformats.org/officeDocument/2006/relationships/notesSlide" Target="/ppt/notesSlides/notesSlide4.xml" Id="R690dd04a288c4f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af213c16b04314" /><Relationship Type="http://schemas.openxmlformats.org/officeDocument/2006/relationships/image" Target="/ppt/media/image3.jpeg" Id="R76f250d7ccaa4736" /><Relationship Type="http://schemas.openxmlformats.org/officeDocument/2006/relationships/notesSlide" Target="/ppt/notesSlides/notesSlide5.xml" Id="R1248a7839f01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9b207c982e4871" /><Relationship Type="http://schemas.openxmlformats.org/officeDocument/2006/relationships/notesSlide" Target="/ppt/notesSlides/notesSlide6.xml" Id="Racaead53b98648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5fcda34344237" /><Relationship Type="http://schemas.openxmlformats.org/officeDocument/2006/relationships/notesSlide" Target="/ppt/notesSlides/notesSlide7.xml" Id="Rc58ac49460ff41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351151bb684984" /><Relationship Type="http://schemas.openxmlformats.org/officeDocument/2006/relationships/notesSlide" Target="/ppt/notesSlides/notesSlide8.xml" Id="R7cfae534e6904f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B655F-E0E9-43D9-87E5-0FE7DF03492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04672" y="1993392"/>
            <a:ext cx="10561320" cy="126187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2B3F75"/>
                </a:solidFill>
              </a:defRPr>
            </a:pPr>
            <a:r>
              <a:t>AI Companion 项目技术亮点与实现效果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E62B85C-AA49-455E-84C4-3FAEB2C6C6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2104" y="3401568"/>
            <a:ext cx="10149840" cy="53035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B6474"/>
                </a:solidFill>
              </a:defRPr>
            </a:pPr>
            <a:r>
              <a:t>面向：技术评审、产品团队与项目演示观众</a:t>
            </a:r>
          </a:p>
        </p:txBody>
      </p:sp>
    </p:spTree>
    <p:extLst>
      <p:ext uri="{BB962C8B-B14F-4D97-AF65-F5344CB8AC3E}">
        <p14:creationId xmlns:p14="http://schemas.microsoft.com/office/powerpoint/2010/main" val="1419834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6E8DFB-8D2C-4E9C-8623-B276CFB6D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928" y="292608"/>
            <a:ext cx="11018520" cy="71323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4868B7"/>
                </a:solidFill>
              </a:defRPr>
            </a:pPr>
            <a:r>
              <a:t>项目定位与整体架构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B004A0-F40F-4DD6-A77E-06CEEECF09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87552" y="1298448"/>
            <a:ext cx="9930384" cy="4828032"/>
          </a:xfrm>
        </p:spPr>
        <p:txBody>
          <a:bodyPr xmlns:a="http://schemas.openxmlformats.org/drawingml/2006/main" wrap="square" lIns="36576" tIns="54864" rIns="73152" bIns="54864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  <a:defRPr>
                <a:solidFill>
                  <a:srgbClr val="1F2937"/>
                </a:solidFill>
              </a:defRPr>
            </a:pPr>
          </a:p>
        </p:txBody>
      </p:sp>
      <p:sp>
        <p:nvSpPr>
          <p:cNvPr id="4" name="Native Bullet Marker 1">
            <a:extLst xmlns:a="http://schemas.openxmlformats.org/drawingml/2006/main">
              <a:ext uri="{FF2B5EF4-FFF2-40B4-BE49-F238E27FC236}">
                <a16:creationId xmlns:a16="http://schemas.microsoft.com/office/drawing/2014/main" id="{05C2E6F4-0B68-4E47-B5F3-09F151E5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298448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5" name="Bullet Text 1">
            <a:extLst xmlns:a="http://schemas.openxmlformats.org/drawingml/2006/main">
              <a:ext uri="{FF2B5EF4-FFF2-40B4-BE49-F238E27FC236}">
                <a16:creationId xmlns:a16="http://schemas.microsoft.com/office/drawing/2014/main" id="{C0B1778F-BF92-4262-9EE6-4580284A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298448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面向个人长期使用，把情感陪伴、生活管理和工作提效统一为一个 AI 工作台。</a:t>
            </a:r>
          </a:p>
        </p:txBody>
      </p:sp>
      <p:sp>
        <p:nvSpPr>
          <p:cNvPr id="6" name="Native Bullet Marker 2">
            <a:extLst xmlns:a="http://schemas.openxmlformats.org/drawingml/2006/main">
              <a:ext uri="{FF2B5EF4-FFF2-40B4-BE49-F238E27FC236}">
                <a16:creationId xmlns:a16="http://schemas.microsoft.com/office/drawing/2014/main" id="{B6B52EEC-8757-4D0A-BF0E-62296A22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10429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7" name="Bullet Text 2">
            <a:extLst xmlns:a="http://schemas.openxmlformats.org/drawingml/2006/main">
              <a:ext uri="{FF2B5EF4-FFF2-40B4-BE49-F238E27FC236}">
                <a16:creationId xmlns:a16="http://schemas.microsoft.com/office/drawing/2014/main" id="{E0684CDC-CCDE-4069-87CC-D6A790E1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910429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Next.js 前端连接 Go API、异步 Worker 与 L⁠a⁠n⁠g⁠G⁠r⁠a⁠p⁠h Agent Worker，职责边界清晰。</a:t>
            </a:r>
          </a:p>
        </p:txBody>
      </p:sp>
      <p:sp>
        <p:nvSpPr>
          <p:cNvPr id="8" name="Native Bullet Marker 3">
            <a:extLst xmlns:a="http://schemas.openxmlformats.org/drawingml/2006/main">
              <a:ext uri="{FF2B5EF4-FFF2-40B4-BE49-F238E27FC236}">
                <a16:creationId xmlns:a16="http://schemas.microsoft.com/office/drawing/2014/main" id="{0DA16201-CFFE-46E1-A109-979895BE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22410"/>
            <a:ext cx="228600" cy="780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9" name="Bullet Text 3">
            <a:extLst xmlns:a="http://schemas.openxmlformats.org/drawingml/2006/main">
              <a:ext uri="{FF2B5EF4-FFF2-40B4-BE49-F238E27FC236}">
                <a16:creationId xmlns:a16="http://schemas.microsoft.com/office/drawing/2014/main" id="{21DFABAA-A2E0-4F96-ACE5-EB24477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522410"/>
            <a:ext cx="9701784" cy="780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PostgreSQL 记录任务和审计事实，Qdrant 提供向量检索，Redis 与 MinIO 支撑缓存和文件。</a:t>
            </a:r>
          </a:p>
        </p:txBody>
      </p:sp>
      <p:sp>
        <p:nvSpPr>
          <p:cNvPr id="10" name="Native Bullet Marker 4">
            <a:extLst xmlns:a="http://schemas.openxmlformats.org/drawingml/2006/main">
              <a:ext uri="{FF2B5EF4-FFF2-40B4-BE49-F238E27FC236}">
                <a16:creationId xmlns:a16="http://schemas.microsoft.com/office/drawing/2014/main" id="{90CA8D86-5150-4CC5-9FD3-79638816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404266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11" name="Bullet Text 4">
            <a:extLst xmlns:a="http://schemas.openxmlformats.org/drawingml/2006/main">
              <a:ext uri="{FF2B5EF4-FFF2-40B4-BE49-F238E27FC236}">
                <a16:creationId xmlns:a16="http://schemas.microsoft.com/office/drawing/2014/main" id="{838CA8A2-40B4-4F80-B668-297C604D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404266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所有模块共享身份、会话、记忆、文档、授权和可观测性，减少重复上下文。</a:t>
            </a:r>
          </a:p>
        </p:txBody>
      </p:sp>
    </p:spTree>
    <p:extLst>
      <p:ext uri="{BB962C8B-B14F-4D97-AF65-F5344CB8AC3E}">
        <p14:creationId xmlns:p14="http://schemas.microsoft.com/office/powerpoint/2010/main" val="2080193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4FB4FE-0195-4BFC-AF06-46A96CF18D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928" y="292608"/>
            <a:ext cx="11018520" cy="71323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4868B7"/>
                </a:solidFill>
              </a:defRPr>
            </a:pPr>
            <a:r>
              <a:t>情感陪伴实现效果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5C04FA-6FDB-4D65-BEF2-5DB64DFA62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13232" y="1261872"/>
            <a:ext cx="4983480" cy="4645152"/>
          </a:xfrm>
        </p:spPr>
        <p:txBody>
          <a:bodyPr xmlns:a="http://schemas.openxmlformats.org/drawingml/2006/main" wrap="square" lIns="36576" tIns="54864" rIns="73152" bIns="54864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600"/>
              </a:spcAft>
              <a:buNone/>
              <a:defRPr>
                <a:solidFill>
                  <a:srgbClr val="1F2937"/>
                </a:solidFill>
              </a:defRPr>
            </a:pPr>
          </a:p>
        </p:txBody>
      </p:sp>
      <p:sp>
        <p:nvSpPr>
          <p:cNvPr id="4" name="Native Bullet Marker 1">
            <a:extLst xmlns:a="http://schemas.openxmlformats.org/drawingml/2006/main">
              <a:ext uri="{FF2B5EF4-FFF2-40B4-BE49-F238E27FC236}">
                <a16:creationId xmlns:a16="http://schemas.microsoft.com/office/drawing/2014/main" id="{7EED37DF-9AE4-4CF0-91A7-82164D3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969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5" name="Bullet Text 1">
            <a:extLst xmlns:a="http://schemas.openxmlformats.org/drawingml/2006/main">
              <a:ext uri="{FF2B5EF4-FFF2-40B4-BE49-F238E27FC236}">
                <a16:creationId xmlns:a16="http://schemas.microsoft.com/office/drawing/2014/main" id="{F0FB508C-7E65-4D2B-8DB9-E4630398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969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附件截图第⁠ ⁠1⁠ ⁠页：角色列表、会话入口和记忆管理集中在情感陪伴主页。</a:t>
            </a:r>
          </a:p>
        </p:txBody>
      </p:sp>
      <p:sp>
        <p:nvSpPr>
          <p:cNvPr id="6" name="Native Bullet Marker 2">
            <a:extLst xmlns:a="http://schemas.openxmlformats.org/drawingml/2006/main">
              <a:ext uri="{FF2B5EF4-FFF2-40B4-BE49-F238E27FC236}">
                <a16:creationId xmlns:a16="http://schemas.microsoft.com/office/drawing/2014/main" id="{991040D7-0225-48AC-B071-51393558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097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7" name="Bullet Text 2">
            <a:extLst xmlns:a="http://schemas.openxmlformats.org/drawingml/2006/main">
              <a:ext uri="{FF2B5EF4-FFF2-40B4-BE49-F238E27FC236}">
                <a16:creationId xmlns:a16="http://schemas.microsoft.com/office/drawing/2014/main" id="{A44A9988-DF40-4B7B-BCE5-888C16C6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8097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用户可创建不同性格、关系和表达风格的角色，并持续进行自然语言对话。</a:t>
            </a:r>
          </a:p>
        </p:txBody>
      </p:sp>
      <p:sp>
        <p:nvSpPr>
          <p:cNvPr id="8" name="Native Bullet Marker 3">
            <a:extLst xmlns:a="http://schemas.openxmlformats.org/drawingml/2006/main">
              <a:ext uri="{FF2B5EF4-FFF2-40B4-BE49-F238E27FC236}">
                <a16:creationId xmlns:a16="http://schemas.microsoft.com/office/drawing/2014/main" id="{5256B337-DE4B-4630-B86B-9C99A383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225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9" name="Bullet Text 3">
            <a:extLst xmlns:a="http://schemas.openxmlformats.org/drawingml/2006/main">
              <a:ext uri="{FF2B5EF4-FFF2-40B4-BE49-F238E27FC236}">
                <a16:creationId xmlns:a16="http://schemas.microsoft.com/office/drawing/2014/main" id="{EE0E4798-3911-4BCA-ACB7-041DCF8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6225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稳定偏好与重要经历进入可管理长期记忆，支持查看、修订、置顶和删除。</a:t>
            </a:r>
          </a:p>
        </p:txBody>
      </p:sp>
      <p:sp>
        <p:nvSpPr>
          <p:cNvPr id="10" name="Native Bullet Marker 4">
            <a:extLst xmlns:a="http://schemas.openxmlformats.org/drawingml/2006/main">
              <a:ext uri="{FF2B5EF4-FFF2-40B4-BE49-F238E27FC236}">
                <a16:creationId xmlns:a16="http://schemas.microsoft.com/office/drawing/2014/main" id="{E3D05F56-2B20-4BEA-9852-1FEC6469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353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11" name="Bullet Text 4">
            <a:extLst xmlns:a="http://schemas.openxmlformats.org/drawingml/2006/main">
              <a:ext uri="{FF2B5EF4-FFF2-40B4-BE49-F238E27FC236}">
                <a16:creationId xmlns:a16="http://schemas.microsoft.com/office/drawing/2014/main" id="{924C8C64-C886-4F41-91B2-D44CB283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353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上下文只召回与当前问题有关的有限记忆，兼顾连续性、隐私和成本。</a:t>
            </a:r>
          </a:p>
        </p:txBody>
      </p:sp>
      <p:pic>
        <p:nvPicPr>
          <p:cNvPr id="2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d3db6f1bb4f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2472" y="2021635"/>
            <a:ext cx="5559552" cy="3125626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57992A-DC1A-4F13-85E5-34CC5160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16752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>
                <a:solidFill>
                  <a:srgbClr val="5B6474"/>
                </a:solidFill>
              </a:defRPr>
            </a:pPr>
            <a:r>
              <a:t>ai-companion-system-screens-v3.pdf · 第 1 页</a:t>
            </a:r>
          </a:p>
        </p:txBody>
      </p:sp>
    </p:spTree>
    <p:extLst>
      <p:ext uri="{BB962C8B-B14F-4D97-AF65-F5344CB8AC3E}">
        <p14:creationId xmlns:p14="http://schemas.microsoft.com/office/powerpoint/2010/main" val="621420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4BA1D0-9488-4945-BDFA-BAA6C6A4D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928" y="292608"/>
            <a:ext cx="11018520" cy="71323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4868B7"/>
                </a:solidFill>
              </a:defRPr>
            </a:pPr>
            <a:r>
              <a:t>生活助手实现效果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1FDCFD-207C-4623-A0D4-EFBD864E7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13232" y="1261872"/>
            <a:ext cx="4983480" cy="4645152"/>
          </a:xfrm>
        </p:spPr>
        <p:txBody>
          <a:bodyPr xmlns:a="http://schemas.openxmlformats.org/drawingml/2006/main" wrap="square" lIns="36576" tIns="54864" rIns="73152" bIns="54864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600"/>
              </a:spcAft>
              <a:buNone/>
              <a:defRPr>
                <a:solidFill>
                  <a:srgbClr val="1F2937"/>
                </a:solidFill>
              </a:defRPr>
            </a:pPr>
          </a:p>
        </p:txBody>
      </p:sp>
      <p:sp>
        <p:nvSpPr>
          <p:cNvPr id="4" name="Native Bullet Marker 1">
            <a:extLst xmlns:a="http://schemas.openxmlformats.org/drawingml/2006/main">
              <a:ext uri="{FF2B5EF4-FFF2-40B4-BE49-F238E27FC236}">
                <a16:creationId xmlns:a16="http://schemas.microsoft.com/office/drawing/2014/main" id="{E5D1E184-B076-45E3-850E-BD82169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969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5" name="Bullet Text 1">
            <a:extLst xmlns:a="http://schemas.openxmlformats.org/drawingml/2006/main">
              <a:ext uri="{FF2B5EF4-FFF2-40B4-BE49-F238E27FC236}">
                <a16:creationId xmlns:a16="http://schemas.microsoft.com/office/drawing/2014/main" id="{98DA4053-38AD-47CD-ABDF-FA6F864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969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附件截图第⁠ ⁠2⁠ ⁠页：今日计划、提醒事项和月度账本在同一主页可验证。</a:t>
            </a:r>
          </a:p>
        </p:txBody>
      </p:sp>
      <p:sp>
        <p:nvSpPr>
          <p:cNvPr id="6" name="Native Bullet Marker 2">
            <a:extLst xmlns:a="http://schemas.openxmlformats.org/drawingml/2006/main">
              <a:ext uri="{FF2B5EF4-FFF2-40B4-BE49-F238E27FC236}">
                <a16:creationId xmlns:a16="http://schemas.microsoft.com/office/drawing/2014/main" id="{67B2C5AD-CB92-4860-9DCE-046BED95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097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7" name="Bullet Text 2">
            <a:extLst xmlns:a="http://schemas.openxmlformats.org/drawingml/2006/main">
              <a:ext uri="{FF2B5EF4-FFF2-40B4-BE49-F238E27FC236}">
                <a16:creationId xmlns:a16="http://schemas.microsoft.com/office/drawing/2014/main" id="{9EE48F34-BCA4-4115-AD52-8066A533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8097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记账流程为自然语言输入、参数提取、候选预览、人工确认和最终写入。</a:t>
            </a:r>
          </a:p>
        </p:txBody>
      </p:sp>
      <p:sp>
        <p:nvSpPr>
          <p:cNvPr id="8" name="Native Bullet Marker 3">
            <a:extLst xmlns:a="http://schemas.openxmlformats.org/drawingml/2006/main">
              <a:ext uri="{FF2B5EF4-FFF2-40B4-BE49-F238E27FC236}">
                <a16:creationId xmlns:a16="http://schemas.microsoft.com/office/drawing/2014/main" id="{88B2EA1C-B775-4A81-A2B1-309F96EC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225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9" name="Bullet Text 3">
            <a:extLst xmlns:a="http://schemas.openxmlformats.org/drawingml/2006/main">
              <a:ext uri="{FF2B5EF4-FFF2-40B4-BE49-F238E27FC236}">
                <a16:creationId xmlns:a16="http://schemas.microsoft.com/office/drawing/2014/main" id="{B53EF1C0-D1B3-456A-AF03-4E76E307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6225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提醒流程解析内容、时间与时区，确认后进入提醒列表并通过应用内通知触达。</a:t>
            </a:r>
          </a:p>
        </p:txBody>
      </p:sp>
      <p:sp>
        <p:nvSpPr>
          <p:cNvPr id="10" name="Native Bullet Marker 4">
            <a:extLst xmlns:a="http://schemas.openxmlformats.org/drawingml/2006/main">
              <a:ext uri="{FF2B5EF4-FFF2-40B4-BE49-F238E27FC236}">
                <a16:creationId xmlns:a16="http://schemas.microsoft.com/office/drawing/2014/main" id="{C23D7B0A-737A-445E-AEB2-18F8DC19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353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11" name="Bullet Text 4">
            <a:extLst xmlns:a="http://schemas.openxmlformats.org/drawingml/2006/main">
              <a:ext uri="{FF2B5EF4-FFF2-40B4-BE49-F238E27FC236}">
                <a16:creationId xmlns:a16="http://schemas.microsoft.com/office/drawing/2014/main" id="{B5845D6E-1F7A-4C0E-913D-CE8C39C0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353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对话结果与结构化列表相互对应，形成可观察的业务闭环。</a:t>
            </a:r>
          </a:p>
        </p:txBody>
      </p:sp>
      <p:pic>
        <p:nvPicPr>
          <p:cNvPr id="2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30de89faf49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2472" y="2021635"/>
            <a:ext cx="5559552" cy="3125626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00753D-7F6F-4D59-BBE7-ABA4FD81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16752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>
                <a:solidFill>
                  <a:srgbClr val="5B6474"/>
                </a:solidFill>
              </a:defRPr>
            </a:pPr>
            <a:r>
              <a:t>ai-companion-system-screens-v3.pdf · 第 2 页</a:t>
            </a:r>
          </a:p>
        </p:txBody>
      </p:sp>
    </p:spTree>
    <p:extLst>
      <p:ext uri="{BB962C8B-B14F-4D97-AF65-F5344CB8AC3E}">
        <p14:creationId xmlns:p14="http://schemas.microsoft.com/office/powerpoint/2010/main" val="803896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5E87F0-B9CC-45DF-B53D-393F7E498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928" y="292608"/>
            <a:ext cx="11018520" cy="71323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4868B7"/>
                </a:solidFill>
              </a:defRPr>
            </a:pPr>
            <a:r>
              <a:t>工作伙伴与使用流程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E5AA6D-4EE2-4758-AA9B-282C26E811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13232" y="1261872"/>
            <a:ext cx="4983480" cy="4645152"/>
          </a:xfrm>
        </p:spPr>
        <p:txBody>
          <a:bodyPr xmlns:a="http://schemas.openxmlformats.org/drawingml/2006/main" wrap="square" lIns="36576" tIns="54864" rIns="73152" bIns="54864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600"/>
              </a:spcAft>
              <a:buNone/>
              <a:defRPr>
                <a:solidFill>
                  <a:srgbClr val="1F2937"/>
                </a:solidFill>
              </a:defRPr>
            </a:pPr>
          </a:p>
        </p:txBody>
      </p:sp>
      <p:sp>
        <p:nvSpPr>
          <p:cNvPr id="4" name="Native Bullet Marker 1">
            <a:extLst xmlns:a="http://schemas.openxmlformats.org/drawingml/2006/main">
              <a:ext uri="{FF2B5EF4-FFF2-40B4-BE49-F238E27FC236}">
                <a16:creationId xmlns:a16="http://schemas.microsoft.com/office/drawing/2014/main" id="{A4F011BF-7BE0-49E0-B6C4-634559EF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969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5" name="Bullet Text 1">
            <a:extLst xmlns:a="http://schemas.openxmlformats.org/drawingml/2006/main">
              <a:ext uri="{FF2B5EF4-FFF2-40B4-BE49-F238E27FC236}">
                <a16:creationId xmlns:a16="http://schemas.microsoft.com/office/drawing/2014/main" id="{46F7AAEB-9203-4883-BF79-6ADE83CB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969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附件截图第⁠ ⁠3⁠ ⁠页：工作台展示版本化 Skill、任务路由和 MCP 双白名单。</a:t>
            </a:r>
          </a:p>
        </p:txBody>
      </p:sp>
      <p:sp>
        <p:nvSpPr>
          <p:cNvPr id="6" name="Native Bullet Marker 2">
            <a:extLst xmlns:a="http://schemas.openxmlformats.org/drawingml/2006/main">
              <a:ext uri="{FF2B5EF4-FFF2-40B4-BE49-F238E27FC236}">
                <a16:creationId xmlns:a16="http://schemas.microsoft.com/office/drawing/2014/main" id="{13745F81-1CF9-4444-8B24-DC736525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097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7" name="Bullet Text 2">
            <a:extLst xmlns:a="http://schemas.openxmlformats.org/drawingml/2006/main">
              <a:ext uri="{FF2B5EF4-FFF2-40B4-BE49-F238E27FC236}">
                <a16:creationId xmlns:a16="http://schemas.microsoft.com/office/drawing/2014/main" id="{D317642C-F6C0-4250-9F16-F64779A2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8097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上传 PDF 或 UTF-8 文本后可进行 RAG 问答，回答返回文档名、页码和引用证据。</a:t>
            </a:r>
          </a:p>
        </p:txBody>
      </p:sp>
      <p:sp>
        <p:nvSpPr>
          <p:cNvPr id="8" name="Native Bullet Marker 3">
            <a:extLst xmlns:a="http://schemas.openxmlformats.org/drawingml/2006/main">
              <a:ext uri="{FF2B5EF4-FFF2-40B4-BE49-F238E27FC236}">
                <a16:creationId xmlns:a16="http://schemas.microsoft.com/office/drawing/2014/main" id="{E8669D5A-7369-4386-BA0F-BB1BA270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225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9" name="Bullet Text 3">
            <a:extLst xmlns:a="http://schemas.openxmlformats.org/drawingml/2006/main">
              <a:ext uri="{FF2B5EF4-FFF2-40B4-BE49-F238E27FC236}">
                <a16:creationId xmlns:a16="http://schemas.microsoft.com/office/drawing/2014/main" id="{402096F3-A624-436D-9458-6BB3CF1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6225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支持正文提取、DOCX 编辑、PDF 翻译、PPTX 生成和 CSV/XLSX 分析。</a:t>
            </a:r>
          </a:p>
        </p:txBody>
      </p:sp>
      <p:sp>
        <p:nvSpPr>
          <p:cNvPr id="10" name="Native Bullet Marker 4">
            <a:extLst xmlns:a="http://schemas.openxmlformats.org/drawingml/2006/main">
              <a:ext uri="{FF2B5EF4-FFF2-40B4-BE49-F238E27FC236}">
                <a16:creationId xmlns:a16="http://schemas.microsoft.com/office/drawing/2014/main" id="{6D0E6589-153C-4F49-9178-8D7DDBAC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35348"/>
            <a:ext cx="228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11" name="Bullet Text 4">
            <a:extLst xmlns:a="http://schemas.openxmlformats.org/drawingml/2006/main">
              <a:ext uri="{FF2B5EF4-FFF2-40B4-BE49-F238E27FC236}">
                <a16:creationId xmlns:a16="http://schemas.microsoft.com/office/drawing/2014/main" id="{58FBC770-AB1E-488D-AA46-99865DEF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35348"/>
            <a:ext cx="475488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长任务展示进度、错误与产物；生成文件可下载，重要写入保留预览和确认。</a:t>
            </a:r>
          </a:p>
        </p:txBody>
      </p:sp>
      <p:pic>
        <p:nvPicPr>
          <p:cNvPr id="2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250d7ccaa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2472" y="2021635"/>
            <a:ext cx="5559552" cy="3125626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EFD6A75-1AB4-4F20-BE50-A2679DFC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16752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>
                <a:solidFill>
                  <a:srgbClr val="5B6474"/>
                </a:solidFill>
              </a:defRPr>
            </a:pPr>
            <a:r>
              <a:t>ai-companion-system-screens-v3.pdf · 第 3 页</a:t>
            </a:r>
          </a:p>
        </p:txBody>
      </p:sp>
    </p:spTree>
    <p:extLst>
      <p:ext uri="{BB962C8B-B14F-4D97-AF65-F5344CB8AC3E}">
        <p14:creationId xmlns:p14="http://schemas.microsoft.com/office/powerpoint/2010/main" val="401546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037301-9EA3-428F-B9E8-71969FCFBD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928" y="292608"/>
            <a:ext cx="11018520" cy="71323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4868B7"/>
                </a:solidFill>
              </a:defRPr>
            </a:pPr>
            <a:r>
              <a:t>大文件无损分片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DBDE3E-33B6-41AB-A875-40862A2039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87552" y="1298448"/>
            <a:ext cx="9930384" cy="4828032"/>
          </a:xfrm>
        </p:spPr>
        <p:txBody>
          <a:bodyPr xmlns:a="http://schemas.openxmlformats.org/drawingml/2006/main" wrap="square" lIns="36576" tIns="54864" rIns="73152" bIns="54864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  <a:defRPr>
                <a:solidFill>
                  <a:srgbClr val="1F2937"/>
                </a:solidFill>
              </a:defRPr>
            </a:pPr>
          </a:p>
        </p:txBody>
      </p:sp>
      <p:sp>
        <p:nvSpPr>
          <p:cNvPr id="4" name="Native Bullet Marker 1">
            <a:extLst xmlns:a="http://schemas.openxmlformats.org/drawingml/2006/main">
              <a:ext uri="{FF2B5EF4-FFF2-40B4-BE49-F238E27FC236}">
                <a16:creationId xmlns:a16="http://schemas.microsoft.com/office/drawing/2014/main" id="{3BBBBC54-B2D8-49F1-8663-4B273E8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298448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5" name="Bullet Text 1">
            <a:extLst xmlns:a="http://schemas.openxmlformats.org/drawingml/2006/main">
              <a:ext uri="{FF2B5EF4-FFF2-40B4-BE49-F238E27FC236}">
                <a16:creationId xmlns:a16="http://schemas.microsoft.com/office/drawing/2014/main" id="{FEE62BDD-2F7C-4915-A691-50A53394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298448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完整抽取后建立 Source IR，每轮最多处理 4 个输入分片并记录覆盖清单。</a:t>
            </a:r>
          </a:p>
        </p:txBody>
      </p:sp>
      <p:sp>
        <p:nvSpPr>
          <p:cNvPr id="6" name="Native Bullet Marker 2">
            <a:extLst xmlns:a="http://schemas.openxmlformats.org/drawingml/2006/main">
              <a:ext uri="{FF2B5EF4-FFF2-40B4-BE49-F238E27FC236}">
                <a16:creationId xmlns:a16="http://schemas.microsoft.com/office/drawing/2014/main" id="{1FACD396-AC58-4842-BD64-307270C6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10429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7" name="Bullet Text 2">
            <a:extLst xmlns:a="http://schemas.openxmlformats.org/drawingml/2006/main">
              <a:ext uri="{FF2B5EF4-FFF2-40B4-BE49-F238E27FC236}">
                <a16:creationId xmlns:a16="http://schemas.microsoft.com/office/drawing/2014/main" id="{46BAF751-9863-4C1B-BBB6-0B229E65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910429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Composer 分片同时受 2,000 Token 和 12,000 字符上限约束，并保留边界上下文。</a:t>
            </a:r>
          </a:p>
        </p:txBody>
      </p:sp>
      <p:sp>
        <p:nvSpPr>
          <p:cNvPr id="8" name="Native Bullet Marker 3">
            <a:extLst xmlns:a="http://schemas.openxmlformats.org/drawingml/2006/main">
              <a:ext uri="{FF2B5EF4-FFF2-40B4-BE49-F238E27FC236}">
                <a16:creationId xmlns:a16="http://schemas.microsoft.com/office/drawing/2014/main" id="{4284DE98-59A8-4FA2-A80A-1E2400D9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22410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9" name="Bullet Text 3">
            <a:extLst xmlns:a="http://schemas.openxmlformats.org/drawingml/2006/main">
              <a:ext uri="{FF2B5EF4-FFF2-40B4-BE49-F238E27FC236}">
                <a16:creationId xmlns:a16="http://schemas.microsoft.com/office/drawing/2014/main" id="{ED99BFBD-7644-401B-9B80-C20F2D2F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522410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按 Source Key 与原始顺序确定性合并，以精确率/召回率门禁检查缺失和额外实体。</a:t>
            </a:r>
          </a:p>
        </p:txBody>
      </p:sp>
      <p:sp>
        <p:nvSpPr>
          <p:cNvPr id="10" name="Native Bullet Marker 4">
            <a:extLst xmlns:a="http://schemas.openxmlformats.org/drawingml/2006/main">
              <a:ext uri="{FF2B5EF4-FFF2-40B4-BE49-F238E27FC236}">
                <a16:creationId xmlns:a16="http://schemas.microsoft.com/office/drawing/2014/main" id="{96A1E120-7176-4125-A627-B0D32383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134391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11" name="Bullet Text 4">
            <a:extLst xmlns:a="http://schemas.openxmlformats.org/drawingml/2006/main">
              <a:ext uri="{FF2B5EF4-FFF2-40B4-BE49-F238E27FC236}">
                <a16:creationId xmlns:a16="http://schemas.microsoft.com/office/drawing/2014/main" id="{21C7A0B9-8DB7-4C50-A664-8095477F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134391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分片独立检查点和内容寻址缓存让失败批次局部重试，成功结果无需重做。</a:t>
            </a:r>
          </a:p>
        </p:txBody>
      </p:sp>
    </p:spTree>
    <p:extLst>
      <p:ext uri="{BB962C8B-B14F-4D97-AF65-F5344CB8AC3E}">
        <p14:creationId xmlns:p14="http://schemas.microsoft.com/office/powerpoint/2010/main" val="1969620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05A6D-F9A2-40F0-A9E6-2F45EB0F6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928" y="292608"/>
            <a:ext cx="11018520" cy="71323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4868B7"/>
                </a:solidFill>
              </a:defRPr>
            </a:pPr>
            <a:r>
              <a:t>Agent 三层并行化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DAAF06-361D-4F43-8068-B223BB1E99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87552" y="1298448"/>
            <a:ext cx="9930384" cy="4828032"/>
          </a:xfrm>
        </p:spPr>
        <p:txBody>
          <a:bodyPr xmlns:a="http://schemas.openxmlformats.org/drawingml/2006/main" wrap="square" lIns="36576" tIns="54864" rIns="73152" bIns="54864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  <a:defRPr>
                <a:solidFill>
                  <a:srgbClr val="1F2937"/>
                </a:solidFill>
              </a:defRPr>
            </a:pPr>
          </a:p>
        </p:txBody>
      </p:sp>
      <p:sp>
        <p:nvSpPr>
          <p:cNvPr id="4" name="Native Bullet Marker 1">
            <a:extLst xmlns:a="http://schemas.openxmlformats.org/drawingml/2006/main">
              <a:ext uri="{FF2B5EF4-FFF2-40B4-BE49-F238E27FC236}">
                <a16:creationId xmlns:a16="http://schemas.microsoft.com/office/drawing/2014/main" id="{E20F9842-EF75-40CB-BDEE-278BDB82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298448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5" name="Bullet Text 1">
            <a:extLst xmlns:a="http://schemas.openxmlformats.org/drawingml/2006/main">
              <a:ext uri="{FF2B5EF4-FFF2-40B4-BE49-F238E27FC236}">
                <a16:creationId xmlns:a16="http://schemas.microsoft.com/office/drawing/2014/main" id="{42CC472B-5552-4A1E-BA0B-61D5ADF2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298448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运行级：Go R⁠u⁠n⁠D⁠i⁠s⁠p⁠a⁠t⁠c⁠h⁠e⁠r 默认 4 个执行槽，32 容量有界队列形成显式背压。</a:t>
            </a:r>
          </a:p>
        </p:txBody>
      </p:sp>
      <p:sp>
        <p:nvSpPr>
          <p:cNvPr id="6" name="Native Bullet Marker 2">
            <a:extLst xmlns:a="http://schemas.openxmlformats.org/drawingml/2006/main">
              <a:ext uri="{FF2B5EF4-FFF2-40B4-BE49-F238E27FC236}">
                <a16:creationId xmlns:a16="http://schemas.microsoft.com/office/drawing/2014/main" id="{BD6DC903-EA1C-493E-AC47-DB75776C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10429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7" name="Bullet Text 2">
            <a:extLst xmlns:a="http://schemas.openxmlformats.org/drawingml/2006/main">
              <a:ext uri="{FF2B5EF4-FFF2-40B4-BE49-F238E27FC236}">
                <a16:creationId xmlns:a16="http://schemas.microsoft.com/office/drawing/2014/main" id="{9F28E11D-25B2-4641-B6E9-9310B190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910429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进程级：持久 Python 池复用 L⁠a⁠n⁠g⁠G⁠r⁠a⁠p⁠h 与 Checkpointer，单槽崩溃不会拖垮 Worker。</a:t>
            </a:r>
          </a:p>
        </p:txBody>
      </p:sp>
      <p:sp>
        <p:nvSpPr>
          <p:cNvPr id="8" name="Native Bullet Marker 3">
            <a:extLst xmlns:a="http://schemas.openxmlformats.org/drawingml/2006/main">
              <a:ext uri="{FF2B5EF4-FFF2-40B4-BE49-F238E27FC236}">
                <a16:creationId xmlns:a16="http://schemas.microsoft.com/office/drawing/2014/main" id="{B77601CD-D9A9-46F7-BA8A-25352F4F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22410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9" name="Bullet Text 3">
            <a:extLst xmlns:a="http://schemas.openxmlformats.org/drawingml/2006/main">
              <a:ext uri="{FF2B5EF4-FFF2-40B4-BE49-F238E27FC236}">
                <a16:creationId xmlns:a16="http://schemas.microsoft.com/office/drawing/2014/main" id="{8E3D1B16-C557-47F8-91DB-056ED757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522410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图节点级：L⁠a⁠n⁠g⁠G⁠r⁠a⁠p⁠h Send 默认并发 3、硬上限 4，join 后按来源顺序稳定归并。</a:t>
            </a:r>
          </a:p>
        </p:txBody>
      </p:sp>
      <p:sp>
        <p:nvSpPr>
          <p:cNvPr id="10" name="Native Bullet Marker 4">
            <a:extLst xmlns:a="http://schemas.openxmlformats.org/drawingml/2006/main">
              <a:ext uri="{FF2B5EF4-FFF2-40B4-BE49-F238E27FC236}">
                <a16:creationId xmlns:a16="http://schemas.microsoft.com/office/drawing/2014/main" id="{D104BE03-C250-4F62-84D2-26C6634F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134391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11" name="Bullet Text 4">
            <a:extLst xmlns:a="http://schemas.openxmlformats.org/drawingml/2006/main">
              <a:ext uri="{FF2B5EF4-FFF2-40B4-BE49-F238E27FC236}">
                <a16:creationId xmlns:a16="http://schemas.microsoft.com/office/drawing/2014/main" id="{B86E3069-EF52-42E8-B5CF-BC0763D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134391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分发前先拆分调用、Token 与成本预算，分支独立记录延迟、用量、成本和错误。</a:t>
            </a:r>
          </a:p>
        </p:txBody>
      </p:sp>
    </p:spTree>
    <p:extLst>
      <p:ext uri="{BB962C8B-B14F-4D97-AF65-F5344CB8AC3E}">
        <p14:creationId xmlns:p14="http://schemas.microsoft.com/office/powerpoint/2010/main" val="208827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FBA023-B70D-4049-ADE7-FD4B5878B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6928" y="292608"/>
            <a:ext cx="11018520" cy="713232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4868B7"/>
                </a:solidFill>
              </a:defRPr>
            </a:pPr>
            <a:r>
              <a:t>RAG、记忆与治理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DAC907-A512-4F94-8D5D-59BF06DDB52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87552" y="1298448"/>
            <a:ext cx="9930384" cy="4828032"/>
          </a:xfrm>
        </p:spPr>
        <p:txBody>
          <a:bodyPr xmlns:a="http://schemas.openxmlformats.org/drawingml/2006/main" wrap="square" lIns="36576" tIns="54864" rIns="73152" bIns="54864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800"/>
              </a:spcAft>
              <a:buNone/>
              <a:defRPr>
                <a:solidFill>
                  <a:srgbClr val="1F2937"/>
                </a:solidFill>
              </a:defRPr>
            </a:pPr>
          </a:p>
        </p:txBody>
      </p:sp>
      <p:sp>
        <p:nvSpPr>
          <p:cNvPr id="4" name="Native Bullet Marker 1">
            <a:extLst xmlns:a="http://schemas.openxmlformats.org/drawingml/2006/main">
              <a:ext uri="{FF2B5EF4-FFF2-40B4-BE49-F238E27FC236}">
                <a16:creationId xmlns:a16="http://schemas.microsoft.com/office/drawing/2014/main" id="{2E609539-6748-4B0C-B3DD-8E19FA0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298448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5" name="Bullet Text 1">
            <a:extLst xmlns:a="http://schemas.openxmlformats.org/drawingml/2006/main">
              <a:ext uri="{FF2B5EF4-FFF2-40B4-BE49-F238E27FC236}">
                <a16:creationId xmlns:a16="http://schemas.microsoft.com/office/drawing/2014/main" id="{3F3B4316-7DAA-42CC-972E-CF27FAD7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298448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文档经过页面解析、结构化分块和 Qdrant 检索，回答必须返回来源页码。</a:t>
            </a:r>
          </a:p>
        </p:txBody>
      </p:sp>
      <p:sp>
        <p:nvSpPr>
          <p:cNvPr id="6" name="Native Bullet Marker 2">
            <a:extLst xmlns:a="http://schemas.openxmlformats.org/drawingml/2006/main">
              <a:ext uri="{FF2B5EF4-FFF2-40B4-BE49-F238E27FC236}">
                <a16:creationId xmlns:a16="http://schemas.microsoft.com/office/drawing/2014/main" id="{B1376DFF-74B0-414A-B5DA-A7DB8B46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10429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7" name="Bullet Text 2">
            <a:extLst xmlns:a="http://schemas.openxmlformats.org/drawingml/2006/main">
              <a:ext uri="{FF2B5EF4-FFF2-40B4-BE49-F238E27FC236}">
                <a16:creationId xmlns:a16="http://schemas.microsoft.com/office/drawing/2014/main" id="{32BF3C47-240A-4226-83EF-D7962018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910429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长期记忆与文档证据分开治理；证据不足时明确说明，不进行无来源补全。</a:t>
            </a:r>
          </a:p>
        </p:txBody>
      </p:sp>
      <p:sp>
        <p:nvSpPr>
          <p:cNvPr id="8" name="Native Bullet Marker 3">
            <a:extLst xmlns:a="http://schemas.openxmlformats.org/drawingml/2006/main">
              <a:ext uri="{FF2B5EF4-FFF2-40B4-BE49-F238E27FC236}">
                <a16:creationId xmlns:a16="http://schemas.microsoft.com/office/drawing/2014/main" id="{1B8E19D1-5BB3-4B1E-92B6-5E9CF102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22410"/>
            <a:ext cx="228600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9" name="Bullet Text 3">
            <a:extLst xmlns:a="http://schemas.openxmlformats.org/drawingml/2006/main">
              <a:ext uri="{FF2B5EF4-FFF2-40B4-BE49-F238E27FC236}">
                <a16:creationId xmlns:a16="http://schemas.microsoft.com/office/drawing/2014/main" id="{891BA03C-9A8B-4AFE-94E8-554F900A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522410"/>
            <a:ext cx="9701784" cy="5103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Go Tool Gateway 掌握鉴权、人工确认和最终写入，MCP 使用服务器/工具双白名单。</a:t>
            </a:r>
          </a:p>
        </p:txBody>
      </p:sp>
      <p:sp>
        <p:nvSpPr>
          <p:cNvPr id="10" name="Native Bullet Marker 4">
            <a:extLst xmlns:a="http://schemas.openxmlformats.org/drawingml/2006/main">
              <a:ext uri="{FF2B5EF4-FFF2-40B4-BE49-F238E27FC236}">
                <a16:creationId xmlns:a16="http://schemas.microsoft.com/office/drawing/2014/main" id="{35D59AFF-29C9-4AE5-81A7-1315D61D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134391"/>
            <a:ext cx="228600" cy="780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12700" rIns="0" bIns="127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0000"/>
              </a:lnSpc>
              <a:spcAft>
                <a:spcPts val="0"/>
              </a:spcAft>
              <a:buSzPct val="100000"/>
              <a:buFont typeface="WenQuanYi Zen Hei"/>
              <a:buChar char="•"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⁠</a:t>
            </a:r>
          </a:p>
        </p:txBody>
      </p:sp>
      <p:sp>
        <p:nvSpPr>
          <p:cNvPr id="11" name="Bullet Text 4">
            <a:extLst xmlns:a="http://schemas.openxmlformats.org/drawingml/2006/main">
              <a:ext uri="{FF2B5EF4-FFF2-40B4-BE49-F238E27FC236}">
                <a16:creationId xmlns:a16="http://schemas.microsoft.com/office/drawing/2014/main" id="{9B5BEF7C-9FFB-47B7-9BE4-331BFF1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134391"/>
            <a:ext cx="9701784" cy="780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12700" rIns="73152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0"/>
              </a:spcAft>
              <a:buNone/>
              <a:defRPr sz="1700">
                <a:solidFill>
                  <a:srgbClr val="1F293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t>O⁠p⁠e⁠n⁠T⁠e⁠l⁠e⁠m⁠e⁠t⁠r⁠y 贯穿链路，Prometheus、Loki 与可选 Langfuse 记录可靠性、成本和质量。</a:t>
            </a:r>
          </a:p>
        </p:txBody>
      </p:sp>
    </p:spTree>
    <p:extLst>
      <p:ext uri="{BB962C8B-B14F-4D97-AF65-F5344CB8AC3E}">
        <p14:creationId xmlns:p14="http://schemas.microsoft.com/office/powerpoint/2010/main" val="8416262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2026-09-16T07:25:38.4800000Z</dcterms:created>
  <dcterms:modified xsi:type="dcterms:W3CDTF">2026-09-16T07:25:38.4800000Z</dcterms:modified>
</coreProperties>
</file>