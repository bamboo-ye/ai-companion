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AI-generated visual; model=openai/gpt-image-2; prompt=Create one clean 16:9 editorial presentation illustration. Use a coherent professional visual metaphor, realistic or polished 3D style, ample negative space, and no words, letters, numerals, logos, watermarks, UI, or decorative borders. Topic: 项目定位：情感陪伴、生活助手、工作伙伴统一入口. Context: 项目定位：情感陪伴、生活助手、工作伙伴统一入口; 系统实现：多角色会话、长期记忆、账本与提醒、Skill 工作台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AI-generated visual; model=openai/gpt-image-2; prompt=Create one clean 16:9 editorial presentation illustration. Use a coherent professional visual metaphor, realistic or polished 3D style, ample negative space, and no words, letters, numerals, logos, watermarks, UI, or decorative borders. Topic: 大文件处理：全量提取、Token 与字符双重有界分片、确. Context: 大文件处理：全量提取、Token 与字符双重有界分片、确定性合并、局部重试; Agent 并行化：Run 调度、持久进程池、图内 fan-out/fan-in、预算隔离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4672" y="1993392"/>
            <a:ext cx="10561320" cy="1261872"/>
          </a:xfrm>
        </p:spPr>
        <p:txBody>
          <a:bodyPr wrap="square"/>
          <a:lstStyle/>
          <a:p>
            <a:pPr algn="l">
              <a:defRPr b="1" sz="3500">
                <a:solidFill>
                  <a:srgbClr val="2B3F75"/>
                </a:solidFill>
              </a:defRPr>
            </a:pPr>
            <a:r>
              <a:t>AI Companion 项目技术亮点与实现效果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2104" y="3401568"/>
            <a:ext cx="10149840" cy="530352"/>
          </a:xfrm>
        </p:spPr>
        <p:txBody>
          <a:bodyPr wrap="square"/>
          <a:lstStyle/>
          <a:p>
            <a:pPr algn="l">
              <a:defRPr sz="1800">
                <a:solidFill>
                  <a:srgbClr val="5B6474"/>
                </a:solidFill>
              </a:defRPr>
            </a:pPr>
            <a:r>
              <a:t>面向：项目评审与工程团队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800">
                <a:solidFill>
                  <a:srgbClr val="4868B7"/>
                </a:solidFill>
              </a:defRPr>
            </a:pPr>
            <a:r>
              <a:t>项目定位：情感陪伴、生活助手、工作伙伴统一入口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298448"/>
            <a:ext cx="4983480" cy="4828032"/>
          </a:xfrm>
        </p:spPr>
        <p:txBody>
          <a:bodyPr wrap="square" lIns="36576" rIns="73152" tIns="54864" bIns="54864" anchor="t"/>
          <a:lstStyle/>
          <a:p>
            <a:pPr>
              <a:lnSpc>
                <a:spcPct val="105000"/>
              </a:lnSpc>
              <a:spcAft>
                <a:spcPts val="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713232" y="1298448"/>
            <a:ext cx="228600" cy="823912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05000"/>
              </a:lnSpc>
              <a:spcAft>
                <a:spcPts val="0"/>
              </a:spcAft>
              <a:buSzPct val="100000"/>
              <a:buFont typeface="WenQuanYi Zen Hei"/>
              <a:buChar char="•"/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941832" y="1298448"/>
            <a:ext cx="4754880" cy="823912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项目定位：情感陪伴、生活助手、工作伙伴统一入口</a:t>
            </a:r>
          </a:p>
        </p:txBody>
      </p:sp>
      <p:sp>
        <p:nvSpPr>
          <p:cNvPr id="6" name="Native Bullet Marker 2"/>
          <p:cNvSpPr txBox="1"/>
          <p:nvPr/>
        </p:nvSpPr>
        <p:spPr>
          <a:xfrm>
            <a:off x="713232" y="2198560"/>
            <a:ext cx="228600" cy="823912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05000"/>
              </a:lnSpc>
              <a:spcAft>
                <a:spcPts val="0"/>
              </a:spcAft>
              <a:buSzPct val="100000"/>
              <a:buFont typeface="WenQuanYi Zen Hei"/>
              <a:buChar char="•"/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7" name="Bullet Text 2"/>
          <p:cNvSpPr txBox="1"/>
          <p:nvPr/>
        </p:nvSpPr>
        <p:spPr>
          <a:xfrm>
            <a:off x="941832" y="2198560"/>
            <a:ext cx="4754880" cy="823912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系统实现：多角色会话、长期记忆、账本与提醒、Skill 工作台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2020824"/>
            <a:ext cx="5559552" cy="3127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2472" y="6016752"/>
            <a:ext cx="55595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B6474"/>
                </a:solidFill>
              </a:defRPr>
            </a:pPr>
            <a:r>
              <a:t>AI 生成配图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600">
                <a:solidFill>
                  <a:srgbClr val="4868B7"/>
                </a:solidFill>
              </a:defRPr>
            </a:pPr>
            <a:r>
              <a:t>大文件处理：全量提取、Token 与字符双重有界分片、确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298448"/>
            <a:ext cx="4983480" cy="4828032"/>
          </a:xfrm>
        </p:spPr>
        <p:txBody>
          <a:bodyPr wrap="square" lIns="36576" rIns="73152" tIns="54864" bIns="54864" anchor="t"/>
          <a:lstStyle/>
          <a:p>
            <a:pPr>
              <a:lnSpc>
                <a:spcPct val="105000"/>
              </a:lnSpc>
              <a:spcAft>
                <a:spcPts val="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713232" y="1298448"/>
            <a:ext cx="228600" cy="823912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05000"/>
              </a:lnSpc>
              <a:spcAft>
                <a:spcPts val="0"/>
              </a:spcAft>
              <a:buSzPct val="100000"/>
              <a:buFont typeface="WenQuanYi Zen Hei"/>
              <a:buChar char="•"/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941832" y="1298448"/>
            <a:ext cx="4754880" cy="823912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大文件处理：全量提取、Token 与字符双重有界分片、确定性合并、局部重试</a:t>
            </a:r>
          </a:p>
        </p:txBody>
      </p:sp>
      <p:sp>
        <p:nvSpPr>
          <p:cNvPr id="6" name="Native Bullet Marker 2"/>
          <p:cNvSpPr txBox="1"/>
          <p:nvPr/>
        </p:nvSpPr>
        <p:spPr>
          <a:xfrm>
            <a:off x="713232" y="2198560"/>
            <a:ext cx="228600" cy="823912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05000"/>
              </a:lnSpc>
              <a:spcAft>
                <a:spcPts val="0"/>
              </a:spcAft>
              <a:buSzPct val="100000"/>
              <a:buFont typeface="WenQuanYi Zen Hei"/>
              <a:buChar char="•"/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7" name="Bullet Text 2"/>
          <p:cNvSpPr txBox="1"/>
          <p:nvPr/>
        </p:nvSpPr>
        <p:spPr>
          <a:xfrm>
            <a:off x="941832" y="2198560"/>
            <a:ext cx="4754880" cy="823912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  <a:defRPr sz="1800">
                <a:solidFill>
                  <a:srgbClr val="1F2937"/>
                </a:solidFill>
                <a:latin typeface="WenQuanYi Zen Hei"/>
              </a:defRPr>
            </a:pPr>
            <a:r>
              <a:t>Agent 并行化：Run 调度、持久进程池、图内 fan-out/fan-in、预算隔离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2020824"/>
            <a:ext cx="5559552" cy="3127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2472" y="6016752"/>
            <a:ext cx="55595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B6474"/>
                </a:solidFill>
              </a:defRPr>
            </a:pPr>
            <a:r>
              <a:t>AI 生成配图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600">
                <a:solidFill>
                  <a:srgbClr val="4868B7"/>
                </a:solidFill>
              </a:defRPr>
            </a:pPr>
            <a:r>
              <a:t>可靠性：持久化检查点、人工确认、失败恢复、审计与可观测性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7552" y="1298448"/>
            <a:ext cx="9930384" cy="4828032"/>
          </a:xfrm>
        </p:spPr>
        <p:txBody>
          <a:bodyPr wrap="square" lIns="36576" rIns="73152" tIns="54864" bIns="54864" anchor="ctr"/>
          <a:lstStyle/>
          <a:p>
            <a:pPr>
              <a:lnSpc>
                <a:spcPct val="110000"/>
              </a:lnSpc>
              <a:spcAft>
                <a:spcPts val="1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987552" y="3360039"/>
            <a:ext cx="228600" cy="704850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10000"/>
              </a:lnSpc>
              <a:spcAft>
                <a:spcPts val="0"/>
              </a:spcAft>
              <a:buSzPct val="100000"/>
              <a:buFont typeface="WenQuanYi Zen Hei"/>
              <a:buChar char="•"/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1216152" y="3360039"/>
            <a:ext cx="9701784" cy="704850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可靠性：持久化检查点、人工确认、失败恢复、审计与可观测性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800">
                <a:solidFill>
                  <a:srgbClr val="4868B7"/>
                </a:solidFill>
              </a:defRPr>
            </a:pPr>
            <a:r>
              <a:t>演示效果：三个模块的真实运行截图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7552" y="1298448"/>
            <a:ext cx="9930384" cy="4828032"/>
          </a:xfrm>
        </p:spPr>
        <p:txBody>
          <a:bodyPr wrap="square" lIns="36576" rIns="73152" tIns="54864" bIns="54864" anchor="ctr"/>
          <a:lstStyle/>
          <a:p>
            <a:pPr>
              <a:lnSpc>
                <a:spcPct val="110000"/>
              </a:lnSpc>
              <a:spcAft>
                <a:spcPts val="1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987552" y="3360039"/>
            <a:ext cx="228600" cy="704850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10000"/>
              </a:lnSpc>
              <a:spcAft>
                <a:spcPts val="0"/>
              </a:spcAft>
              <a:buSzPct val="100000"/>
              <a:buFont typeface="WenQuanYi Zen Hei"/>
              <a:buChar char="•"/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1216152" y="3360039"/>
            <a:ext cx="9701784" cy="704850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演示效果：三个模块的真实运行截图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800">
                <a:solidFill>
                  <a:srgbClr val="4868B7"/>
                </a:solidFill>
              </a:defRPr>
            </a:pPr>
            <a:r>
              <a:t>下一步：移动端、规模化评测与生产发布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7552" y="1298448"/>
            <a:ext cx="9930384" cy="4828032"/>
          </a:xfrm>
        </p:spPr>
        <p:txBody>
          <a:bodyPr wrap="square" lIns="36576" rIns="73152" tIns="54864" bIns="54864" anchor="ctr"/>
          <a:lstStyle/>
          <a:p>
            <a:pPr>
              <a:lnSpc>
                <a:spcPct val="110000"/>
              </a:lnSpc>
              <a:spcAft>
                <a:spcPts val="1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987552" y="3360039"/>
            <a:ext cx="228600" cy="704850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10000"/>
              </a:lnSpc>
              <a:spcAft>
                <a:spcPts val="0"/>
              </a:spcAft>
              <a:buSzPct val="100000"/>
              <a:buFont typeface="WenQuanYi Zen Hei"/>
              <a:buChar char="•"/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1216152" y="3360039"/>
            <a:ext cx="9701784" cy="704850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>
                <a:solidFill>
                  <a:srgbClr val="1F2937"/>
                </a:solidFill>
                <a:latin typeface="WenQuanYi Zen Hei"/>
              </a:defRPr>
            </a:pPr>
            <a:r>
              <a:t>下一步：移动端、规模化评测与生产发布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292608"/>
            <a:ext cx="11018520" cy="713232"/>
          </a:xfrm>
        </p:spPr>
        <p:txBody>
          <a:bodyPr wrap="square"/>
          <a:lstStyle/>
          <a:p>
            <a:pPr algn="l">
              <a:defRPr b="1" sz="2800">
                <a:solidFill>
                  <a:srgbClr val="2B3F75"/>
                </a:solidFill>
              </a:defRPr>
            </a:pPr>
            <a:r>
              <a:t>要点回顾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7552" y="1298448"/>
            <a:ext cx="9930384" cy="4828032"/>
          </a:xfrm>
        </p:spPr>
        <p:txBody>
          <a:bodyPr wrap="square" lIns="36576" rIns="73152" tIns="54864" bIns="54864" anchor="ctr"/>
          <a:lstStyle/>
          <a:p>
            <a:pPr>
              <a:lnSpc>
                <a:spcPct val="110000"/>
              </a:lnSpc>
              <a:spcAft>
                <a:spcPts val="1600"/>
              </a:spcAft>
              <a:defRPr>
                <a:solidFill>
                  <a:srgbClr val="1F2937"/>
                </a:solidFill>
              </a:defRPr>
            </a:pPr>
          </a:p>
        </p:txBody>
      </p:sp>
      <p:sp>
        <p:nvSpPr>
          <p:cNvPr id="4" name="Native Bullet Marker 1"/>
          <p:cNvSpPr txBox="1"/>
          <p:nvPr/>
        </p:nvSpPr>
        <p:spPr>
          <a:xfrm>
            <a:off x="987552" y="2961576"/>
            <a:ext cx="228600" cy="649287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10000"/>
              </a:lnSpc>
              <a:spcAft>
                <a:spcPts val="0"/>
              </a:spcAft>
              <a:buSzPct val="100000"/>
              <a:buFont typeface="WenQuanYi Zen Hei"/>
              <a:buChar char="•"/>
              <a:defRPr sz="22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5" name="Bullet Text 1"/>
          <p:cNvSpPr txBox="1"/>
          <p:nvPr/>
        </p:nvSpPr>
        <p:spPr>
          <a:xfrm>
            <a:off x="1216152" y="2961576"/>
            <a:ext cx="9701784" cy="649287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200">
                <a:solidFill>
                  <a:srgbClr val="1F2937"/>
                </a:solidFill>
                <a:latin typeface="WenQuanYi Zen Hei"/>
              </a:defRPr>
            </a:pPr>
            <a:r>
              <a:t>核心内容已按主题分组</a:t>
            </a:r>
          </a:p>
        </p:txBody>
      </p:sp>
      <p:sp>
        <p:nvSpPr>
          <p:cNvPr id="6" name="Native Bullet Marker 2"/>
          <p:cNvSpPr txBox="1"/>
          <p:nvPr/>
        </p:nvSpPr>
        <p:spPr>
          <a:xfrm>
            <a:off x="987552" y="3814063"/>
            <a:ext cx="228600" cy="649287"/>
          </a:xfrm>
          <a:prstGeom prst="rect">
            <a:avLst/>
          </a:prstGeom>
          <a:noFill/>
        </p:spPr>
        <p:txBody>
          <a:bodyPr wrap="none" lIns="0" rIns="0" tIns="12700" bIns="12700" anchor="t">
            <a:noAutofit/>
          </a:bodyPr>
          <a:lstStyle/>
          <a:p>
            <a:pPr marL="228600" indent="-114300">
              <a:lnSpc>
                <a:spcPct val="110000"/>
              </a:lnSpc>
              <a:spcAft>
                <a:spcPts val="0"/>
              </a:spcAft>
              <a:buSzPct val="100000"/>
              <a:buFont typeface="WenQuanYi Zen Hei"/>
              <a:buChar char="•"/>
              <a:defRPr sz="2200">
                <a:solidFill>
                  <a:srgbClr val="1F2937"/>
                </a:solidFill>
                <a:latin typeface="WenQuanYi Zen Hei"/>
              </a:defRPr>
            </a:pPr>
            <a:r>
              <a:t>⁠</a:t>
            </a:r>
          </a:p>
        </p:txBody>
      </p:sp>
      <p:sp>
        <p:nvSpPr>
          <p:cNvPr id="7" name="Bullet Text 2"/>
          <p:cNvSpPr txBox="1"/>
          <p:nvPr/>
        </p:nvSpPr>
        <p:spPr>
          <a:xfrm>
            <a:off x="1216152" y="3814063"/>
            <a:ext cx="9701784" cy="649287"/>
          </a:xfrm>
          <a:prstGeom prst="rect">
            <a:avLst/>
          </a:prstGeom>
          <a:noFill/>
        </p:spPr>
        <p:txBody>
          <a:bodyPr wrap="square" lIns="0" rIns="73152" tIns="12700" bIns="12700" anchor="t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200">
                <a:solidFill>
                  <a:srgbClr val="1F2937"/>
                </a:solidFill>
                <a:latin typeface="WenQuanYi Zen Hei"/>
              </a:defRPr>
            </a:pPr>
            <a:r>
              <a:t>请结合实际场景确认后续行动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